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D6A4F"/>
                </a:solidFill>
                <a:latin typeface="Times New Roman"/>
              </a:defRPr>
            </a:pPr>
            <a:r>
              <a:t>DATA SCIENCE MINI-PROJECT PRESENTATION</a:t>
            </a:r>
          </a:p>
          <a:p>
            <a:pPr>
              <a:spcAft>
                <a:spcPts val="1600"/>
              </a:spcAft>
              <a:defRPr sz="3200" b="1">
                <a:solidFill>
                  <a:srgbClr val="1B4332"/>
                </a:solidFill>
                <a:latin typeface="Times New Roman"/>
              </a:defRPr>
            </a:pPr>
            <a:r>
              <a:t>Farmer Procurement Slot &amp; Queue Management Using Machine Learning</a:t>
            </a:r>
          </a:p>
          <a:p>
            <a:pPr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An End-to-End Decision Support System: Predicting Arrivals, Estimating Waiting Times, Optimizing Procurement Slots, and Streamlining Token Queue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9875520" cy="14630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434840"/>
            <a:ext cx="9326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Domain: Machine Learning &amp; Agricultural Decision Support Systems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Key Algorithms: Random Forest Regression, Random Forest Classification, K-Means Clustering</a:t>
            </a:r>
          </a:p>
          <a:p>
            <a:pPr>
              <a:defRPr sz="1200">
                <a:solidFill>
                  <a:srgbClr val="64748B"/>
                </a:solidFill>
                <a:latin typeface="Times New Roman"/>
              </a:defRPr>
            </a:pPr>
            <a:r>
              <a:t>Implementation: Python, Flask Web Framework, SQLite Database, Responsive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Problem Statement: Challenges in Agricultural Procurement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64992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907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4332"/>
                </a:solidFill>
                <a:latin typeface="Times New Roman"/>
              </a:defRPr>
            </a:pPr>
            <a:r>
              <a:t>01. Unscheduled Arrivals &amp; Severe Crowding</a:t>
            </a:r>
          </a:p>
          <a:p>
            <a:pPr>
              <a:spcAft>
                <a:spcPts val="14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PEAK HARVEST SURGES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Farmers arrive simultaneously during early morning hours without prior coordination.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Lack of visibility into daily arrival numbers causes extreme bottlenecks at procurement gates.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Vehicles spill onto roadways, creating hazardous regional traffic jams and safety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54480"/>
            <a:ext cx="3364992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783080"/>
            <a:ext cx="2907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4332"/>
                </a:solidFill>
                <a:latin typeface="Times New Roman"/>
              </a:defRPr>
            </a:pPr>
            <a:r>
              <a:t>02. Prolonged &amp; Unpredictable Waiting Times</a:t>
            </a:r>
          </a:p>
          <a:p>
            <a:pPr>
              <a:spcAft>
                <a:spcPts val="14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FARMER HARDSHIP &amp; CROP RISK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Farmers routinely endure 4 to 8 hours of idle waiting under harsh weather conditions.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Extended delays lead to moisture loss, grain degradation, and spoilage of perishable produce.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Lack of accurate wait time forecasts creates deep anxiety and distrust among farmers.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554480"/>
            <a:ext cx="3364992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783080"/>
            <a:ext cx="2907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4332"/>
                </a:solidFill>
                <a:latin typeface="Times New Roman"/>
              </a:defRPr>
            </a:pPr>
            <a:r>
              <a:t>03. Resource Misalignment &amp; Manual Inefficiencies</a:t>
            </a:r>
          </a:p>
          <a:p>
            <a:pPr>
              <a:spcAft>
                <a:spcPts val="14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OPERATIONAL BLINDSPOTS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Procurement centres cannot dynamically adjust staffing or weighing machines to match load.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Manual paper tokens and unorganized physical queues cause disputes and priority conflicts.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Supervisors lack real-time data to identify bottlenecks or balance slot capacities.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Project Objectives: Goals &amp;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Goal 1: Predict Daily Arrivals Accurately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Utilize machine learning regression models trained on historical harvest records, weather patterns, vehicle types, and centre capacity to forecast incoming farmer 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05456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15184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Goal 2: Estimate Waiting Times &amp; Congestion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Provide transparent, reliable predictions of expected queuing delay (in minutes) and congestion intensity (Low / Medium / High) prior to centre arrival.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56432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Goal 3: Capacity-Aware Slot Recommendation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Intelligently distribute farmer load across available operational time slots to prevent centre overbooking and eliminate queue spikes.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07408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17136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Goal 4: Digital Token &amp; Live Queue Operations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Replace physical queues with serialized digital token passes, real-time live status tracking, and structured milestone updates (Waiting, Inspection, Weighing, Completed).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58384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6811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Goal 5: Operational Dashboard for Administrators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Equip centre managers with real-time operational analytics, hourly throughput monitoring, and data-driven workforce planning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Proposed Solution: An Integrated Two-Tier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TIER 1: PREDICTIVE ML ENGINE</a:t>
            </a:r>
          </a:p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  <a:latin typeface="Times New Roman"/>
              </a:defRPr>
            </a:pPr>
            <a:r>
              <a:t>Data-Driven Forecasting &amp; Pattern Analysis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Arrival Forecaster: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Predicts exact volume of arriving farmers using Random Forest regression based on harvest load and crop conditions.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Waiting Time Predictor: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Calculates expected waiting duration using non-linear operational factors such as vehicle type and crop volume.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Congestion Classifier: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Computes probabilistic congestion categories (Low, Medium, High) to give farmers an early warning.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Operational Clustering: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Uses K-Means clustering to classify historical days into four distinct operational workload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TIER 2: OPERATIONAL OPTIMIZATION &amp; QUEUE</a:t>
            </a:r>
          </a:p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  <a:latin typeface="Times New Roman"/>
              </a:defRPr>
            </a:pPr>
            <a:r>
              <a:t>Transparent Rules &amp; Live Field Execution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Smart Slot Recommender: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Evaluates capacity limits and congestion scores across daily slots, recommending the lowest-stress time window.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Capacity Hard Limits: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Strictly restricts bookings to slot capacity (e.g., 20 farmers/slot) to prevent physical overloading.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Digital Token Pass: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Issues a structured pass containing Token ID, farmer name, slot details, and live queue position.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Centre Command Dashboard: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Provides administrators with live counter controls, milestone transitions, and throughput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System Architecture: End-to-End Operational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Step 1: Historical Data Processing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Generates realistic, relationship-driven records capturing crop volume, weather, staff counts, and vehicle types with anti-leakage preprocessing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05456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15184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Step 2: Predictive Inference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Pre-trained Random Forest pipelines generate real-time predictions for expected arrival counts, waiting duration, and congestion probabilities.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56432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Step 3: Capacity Optimization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The slot recommendation engine balances predicted congestion against real-time booked counts to guide farmers to underutilized time slots.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07408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17136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Step 4: Token Generation &amp; Booking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Farmers book their preferred slot and receive a unique digital token with verification details, queue position, and scheduled arrival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58384"/>
            <a:ext cx="10728655" cy="841248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6811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Step 5: Live Queue &amp; Analytics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On-ground operations advance tokens through verified milestones (Waiting → Inspection → Weighing → Completed) while feeding analytics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Machine Learning Methodology &amp;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64992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907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Times New Roman"/>
              </a:defRPr>
            </a:pPr>
            <a:r>
              <a:t>Arrival Prediction Model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RANDOM FOREST REGRESSOR</a:t>
            </a:r>
          </a:p>
          <a:p>
            <a:pPr>
              <a:spcAft>
                <a:spcPts val="1200"/>
              </a:spcAft>
              <a:defRPr sz="1100" b="1">
                <a:solidFill>
                  <a:srgbClr val="388E3C"/>
                </a:solidFill>
                <a:latin typeface="Times New Roman"/>
              </a:defRPr>
            </a:pPr>
            <a:r>
              <a:t>★ Held-Out R² Score: 0.869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Predicts the exact count of arriving farmers.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Inputs: Temperature, rainfall, humidity, month, day of week, harvest index.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Enables procurement centres to forecast daily peak volume in advance.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54480"/>
            <a:ext cx="3364992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783080"/>
            <a:ext cx="2907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Times New Roman"/>
              </a:defRPr>
            </a:pPr>
            <a:r>
              <a:t>Waiting Time Predictor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RANDOM FOREST REGRESSOR</a:t>
            </a:r>
          </a:p>
          <a:p>
            <a:pPr>
              <a:spcAft>
                <a:spcPts val="1200"/>
              </a:spcAft>
              <a:defRPr sz="1100" b="1">
                <a:solidFill>
                  <a:srgbClr val="388E3C"/>
                </a:solidFill>
                <a:latin typeface="Times New Roman"/>
              </a:defRPr>
            </a:pPr>
            <a:r>
              <a:t>★ Held-Out R² Score: 0.843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Predicts expected waiting time in minutes.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Inputs: Vehicle type, crop quantity (quintals), active staff, weighing machines.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Handles complex non-linear operational interactions without data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554480"/>
            <a:ext cx="3364992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783080"/>
            <a:ext cx="2907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Times New Roman"/>
              </a:defRPr>
            </a:pPr>
            <a:r>
              <a:t>Congestion Level Classifier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RANDOM FOREST CLASSIFIER</a:t>
            </a:r>
          </a:p>
          <a:p>
            <a:pPr>
              <a:spcAft>
                <a:spcPts val="1200"/>
              </a:spcAft>
              <a:defRPr sz="1100" b="1">
                <a:solidFill>
                  <a:srgbClr val="388E3C"/>
                </a:solidFill>
                <a:latin typeface="Times New Roman"/>
              </a:defRPr>
            </a:pPr>
            <a:r>
              <a:t>★ Held-Out Accuracy: 87.9%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Categorizes centre status into Low, Medium, or High.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Outputs class probabilities rather than arbitrary labels.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• Feeds the operational slot scoring algorithm to balance daily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Technologies Used: Architecture &amp;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Machine Learning &amp; Data Processing</a:t>
            </a:r>
          </a:p>
          <a:p>
            <a:pPr>
              <a:spcAft>
                <a:spcPts val="600"/>
              </a:spcAft>
              <a:defRPr sz="950" b="1">
                <a:solidFill>
                  <a:srgbClr val="2D6A4F"/>
                </a:solidFill>
                <a:latin typeface="Times New Roman"/>
              </a:defRPr>
            </a:pPr>
            <a:r>
              <a:t>CORE ANALYTICAL PIPELINE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Python 3.12: Core programming language for data generation and modelling.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Scikit-Learn: ColumnTransformer, Pipeline, RandomForest, KMeans, StandardScaler.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Pandas &amp; NumPy: Structured data manipulation, transformation, and feature engineering.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Joblib: Production serialization and loading of trained pipeline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916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Web Framework &amp; Backend</a:t>
            </a:r>
          </a:p>
          <a:p>
            <a:pPr>
              <a:spcAft>
                <a:spcPts val="600"/>
              </a:spcAft>
              <a:defRPr sz="950" b="1">
                <a:solidFill>
                  <a:srgbClr val="2D6A4F"/>
                </a:solidFill>
                <a:latin typeface="Times New Roman"/>
              </a:defRPr>
            </a:pPr>
            <a:r>
              <a:t>SERVER &amp; APPLICATION LOGIC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Flask: Lightweight WSGI web framework managing routes, validation, and sessions.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SQLite 3: Embedded relational database with foreign keys, checks, and transactions.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Werkzeug Security: Robust password hashing for secure authentication.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Config Management: Centralized slot timings, capacities, and application constants.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Frontend &amp; User Interface</a:t>
            </a:r>
          </a:p>
          <a:p>
            <a:pPr>
              <a:spcAft>
                <a:spcPts val="600"/>
              </a:spcAft>
              <a:defRPr sz="950" b="1">
                <a:solidFill>
                  <a:srgbClr val="2D6A4F"/>
                </a:solidFill>
                <a:latin typeface="Times New Roman"/>
              </a:defRPr>
            </a:pPr>
            <a:r>
              <a:t>PRESENTATION &amp; DESIGN SYSTEM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HTML5 &amp; Jinja2: Semantic templates, modular layouts, and dynamic data rendering.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Modern CSS3: Custom responsive design system with agricultural palette and CSS variables.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JavaScript: Client-side dynamic fee calculations and auto-refreshing live board.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Font Awesome &amp; Google Fonts: Crisp vector iconography and modern typography.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402336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1B4332"/>
                </a:solidFill>
                <a:latin typeface="Times New Roman"/>
              </a:defRPr>
            </a:pPr>
            <a:r>
              <a:t>Version Control &amp; Deployment</a:t>
            </a:r>
          </a:p>
          <a:p>
            <a:pPr>
              <a:spcAft>
                <a:spcPts val="600"/>
              </a:spcAft>
              <a:defRPr sz="950" b="1">
                <a:solidFill>
                  <a:srgbClr val="2D6A4F"/>
                </a:solidFill>
                <a:latin typeface="Times New Roman"/>
              </a:defRPr>
            </a:pPr>
            <a:r>
              <a:t>DEVELOPMENT &amp; ENGINEERING WORKFLOW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Git &amp; GitHub: Distributed version control with branching and commit hygiene.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Automated Scripts: Single-command dataset generation and model training scripts.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t>• Cross-Platform: Compatible with standard Windows, Linux, and Cloud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Key Features &amp; Application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1. Predictive Insights Engine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EARLY OPERATIONAL VISIBILITY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Instant forecast of arrival surge and waiting times for any selected harvest date.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Congestion severity probabilities allowing farmers to plan departures in advance.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7373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2. Smart Slot Recommendation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CAPACITY-AWARE LOAD BALANCING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Analyzes all daily time windows against real-time booking numbers.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Recommends the optimal slot with the lowest expected wait time and available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3. Digital Token Pass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STRUCTURED QUEUING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Issues a unique, printable digital token pass containing farmer identity and slot code.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Displays real-time queue position and expected service counter timing.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069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4. Live Display Board &amp; Admin Control</a:t>
            </a:r>
          </a:p>
          <a:p>
            <a:pPr>
              <a:spcAft>
                <a:spcPts val="800"/>
              </a:spcAft>
              <a:defRPr sz="1000" b="1">
                <a:solidFill>
                  <a:srgbClr val="2D6A4F"/>
                </a:solidFill>
                <a:latin typeface="Times New Roman"/>
              </a:defRPr>
            </a:pPr>
            <a:r>
              <a:t>REAL-TIME TRANSPARENCY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Auto-refreshing status board visible to both centre staff and arriving farmers.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Supervisor controls to call tokens, record weighing metrics, and monitor centre throughput.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Expected Outcomes &amp; Quantifiable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Significant Wait Time Reduction</a:t>
            </a:r>
          </a:p>
          <a:p>
            <a:pPr>
              <a:spcAft>
                <a:spcPts val="800"/>
              </a:spcAft>
              <a:defRPr sz="1000" b="1">
                <a:solidFill>
                  <a:srgbClr val="388E3C"/>
                </a:solidFill>
                <a:latin typeface="Times New Roman"/>
              </a:defRPr>
            </a:pPr>
            <a:r>
              <a:t>~40% TO 50% REDUCTION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By distributing farmer arrivals across scheduled slots, extreme peak-hour waiting times (often 5–8 hours) are reduced to under 90 minutes.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Minimizes vehicle fuel waste, idle tractor rentals, and driver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7373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Elimination of Centre Congestion</a:t>
            </a:r>
          </a:p>
          <a:p>
            <a:pPr>
              <a:spcAft>
                <a:spcPts val="800"/>
              </a:spcAft>
              <a:defRPr sz="1000" b="1">
                <a:solidFill>
                  <a:srgbClr val="388E3C"/>
                </a:solidFill>
                <a:latin typeface="Times New Roman"/>
              </a:defRPr>
            </a:pPr>
            <a:r>
              <a:t>BALANCED DAILY THROUGHPUT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Prevents sudden surges of 200+ vehicles at gate opening.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Spreads operational burden evenly across morning and afternoon operating shifts.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Reduces road blockages and regional mandi traffic bottlenecks.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Fair &amp; Transparent Operations</a:t>
            </a:r>
          </a:p>
          <a:p>
            <a:pPr>
              <a:spcAft>
                <a:spcPts val="800"/>
              </a:spcAft>
              <a:defRPr sz="1000" b="1">
                <a:solidFill>
                  <a:srgbClr val="388E3C"/>
                </a:solidFill>
                <a:latin typeface="Times New Roman"/>
              </a:defRPr>
            </a:pPr>
            <a:r>
              <a:t>ZERO DISPUTE TOKEN SYSTEM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Serialized digital tokens eliminate queue jumping, favoritism, and physical conflicts.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Farmers gain trust with clear visibility of their current status and remaining wait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14884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069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B4332"/>
                </a:solidFill>
                <a:latin typeface="Times New Roman"/>
              </a:defRPr>
            </a:pPr>
            <a:r>
              <a:t>Data-Driven Staff &amp; Machine Planning</a:t>
            </a:r>
          </a:p>
          <a:p>
            <a:pPr>
              <a:spcAft>
                <a:spcPts val="800"/>
              </a:spcAft>
              <a:defRPr sz="1000" b="1">
                <a:solidFill>
                  <a:srgbClr val="388E3C"/>
                </a:solidFill>
                <a:latin typeface="Times New Roman"/>
              </a:defRPr>
            </a:pPr>
            <a:r>
              <a:t>OPTIMIZED OPERATIONAL EFFICIENCY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Centre managers can proactively staff weighing counters based on forecasted arrival volumes.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• Detailed analytics identify operational bottlenecks for continuous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ACADEMIC PROJECT PRESENTATION</a:t>
            </a:r>
          </a:p>
          <a:p>
            <a:pPr>
              <a:defRPr sz="2400" b="1">
                <a:solidFill>
                  <a:srgbClr val="1B4332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AE0DC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Farmer Procurement Slot &amp; Queue Management  | 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PROJECT SUMMARY &amp; CONCLUSION</a:t>
            </a:r>
          </a:p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  <a:latin typeface="Times New Roman"/>
              </a:defRPr>
            </a:pPr>
            <a:r>
              <a:t>A Practical, End-to-End Decision Support System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Bridging ML and Operations: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Successfully combines predictive machine learning models with transparent, capacity-aware business logic to solve real agricultural logistics bottlenecks.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Farmer-Centric Design: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Empowers farmers with advance visibility into expected delays, enabling stress-free trip planning and fair digital queuing.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Verified Accuracy: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Evaluated rigorously on held-out test splits, achieving strong predictive accuracy (87% arrival R², 84% wait time R², 88% congestion accuracy).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Working Prototype: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Demonstrates complete functional integration from synthetic training pipelines to a live Flask-powered web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F5F7F5"/>
          </a:solidFill>
          <a:ln>
            <a:solidFill>
              <a:srgbClr val="DA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6A4F"/>
                </a:solidFill>
                <a:latin typeface="Times New Roman"/>
              </a:defRPr>
            </a:pPr>
            <a:r>
              <a:t>ROADMAP &amp; FUTURE ENHANCEMENTS</a:t>
            </a:r>
          </a:p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  <a:latin typeface="Times New Roman"/>
              </a:defRPr>
            </a:pPr>
            <a:r>
              <a:t>Scaling to Real-World Mandi Deployments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SMS &amp; Regional Language Alerts: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Deliver token confirmations, slot reminders, and delay alerts in local languages via SMS and WhatsApp integration.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IoT Weighing Bridge Integration: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Connect electronic weighbridges directly to automatically log net grain weights and close tokens instantly.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Multi-Centre Regional Network: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Scale the system across district-level mandis, dynamically routing farmers to nearby centres with lower waiting times.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4332"/>
                </a:solidFill>
                <a:latin typeface="Times New Roman"/>
              </a:rPr>
              <a:t>• Real Field Data Fine-Tuning: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Replace synthetic training records with live sensor and counter data collected across seasonal harvest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